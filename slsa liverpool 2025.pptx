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67" r:id="rId3"/>
    <p:sldId id="257" r:id="rId4"/>
    <p:sldId id="263" r:id="rId5"/>
    <p:sldId id="258" r:id="rId6"/>
    <p:sldId id="265" r:id="rId7"/>
    <p:sldId id="266" r:id="rId8"/>
    <p:sldId id="259" r:id="rId9"/>
    <p:sldId id="260" r:id="rId10"/>
    <p:sldId id="261"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6"/>
    <p:restoredTop sz="45124"/>
  </p:normalViewPr>
  <p:slideViewPr>
    <p:cSldViewPr snapToGrid="0">
      <p:cViewPr varScale="1">
        <p:scale>
          <a:sx n="45" d="100"/>
          <a:sy n="45" d="100"/>
        </p:scale>
        <p:origin x="7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B6069B-1D38-9D4D-8BA0-2A0EDAE7B65A}" type="datetimeFigureOut">
              <a:rPr lang="en-US" smtClean="0"/>
              <a:t>4/12/25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0B86AD-8917-3F45-AECA-C447A1964659}" type="slidenum">
              <a:rPr lang="en-US" smtClean="0"/>
              <a:t>‹#›</a:t>
            </a:fld>
            <a:endParaRPr lang="en-US" dirty="0"/>
          </a:p>
        </p:txBody>
      </p:sp>
    </p:spTree>
    <p:extLst>
      <p:ext uri="{BB962C8B-B14F-4D97-AF65-F5344CB8AC3E}">
        <p14:creationId xmlns:p14="http://schemas.microsoft.com/office/powerpoint/2010/main" val="530958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B86AD-8917-3F45-AECA-C447A1964659}" type="slidenum">
              <a:rPr lang="en-US" smtClean="0"/>
              <a:t>1</a:t>
            </a:fld>
            <a:endParaRPr lang="en-US" dirty="0"/>
          </a:p>
        </p:txBody>
      </p:sp>
    </p:spTree>
    <p:extLst>
      <p:ext uri="{BB962C8B-B14F-4D97-AF65-F5344CB8AC3E}">
        <p14:creationId xmlns:p14="http://schemas.microsoft.com/office/powerpoint/2010/main" val="3731123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the same sense, these new AI models that are being developed have also not had enough time to express themselves. The risk associated with them are still relatively unknown, and even the dangers. Which gets to the crux of the problem with regulating emerging technologies, in so far as they are moving so quickly that it becomes difficult draft and implement legal frameworks which cand deal with them.</a:t>
            </a:r>
          </a:p>
        </p:txBody>
      </p:sp>
      <p:sp>
        <p:nvSpPr>
          <p:cNvPr id="4" name="Slide Number Placeholder 3"/>
          <p:cNvSpPr>
            <a:spLocks noGrp="1"/>
          </p:cNvSpPr>
          <p:nvPr>
            <p:ph type="sldNum" sz="quarter" idx="5"/>
          </p:nvPr>
        </p:nvSpPr>
        <p:spPr/>
        <p:txBody>
          <a:bodyPr/>
          <a:lstStyle/>
          <a:p>
            <a:fld id="{C30B86AD-8917-3F45-AECA-C447A1964659}" type="slidenum">
              <a:rPr lang="en-US" smtClean="0"/>
              <a:t>2</a:t>
            </a:fld>
            <a:endParaRPr lang="en-US" dirty="0"/>
          </a:p>
        </p:txBody>
      </p:sp>
    </p:spTree>
    <p:extLst>
      <p:ext uri="{BB962C8B-B14F-4D97-AF65-F5344CB8AC3E}">
        <p14:creationId xmlns:p14="http://schemas.microsoft.com/office/powerpoint/2010/main" val="2201834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B86AD-8917-3F45-AECA-C447A1964659}" type="slidenum">
              <a:rPr lang="en-US" smtClean="0"/>
              <a:t>3</a:t>
            </a:fld>
            <a:endParaRPr lang="en-US" dirty="0"/>
          </a:p>
        </p:txBody>
      </p:sp>
    </p:spTree>
    <p:extLst>
      <p:ext uri="{BB962C8B-B14F-4D97-AF65-F5344CB8AC3E}">
        <p14:creationId xmlns:p14="http://schemas.microsoft.com/office/powerpoint/2010/main" val="4111538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dirty="0"/>
          </a:p>
          <a:p>
            <a:r>
              <a:rPr lang="en-US" dirty="0"/>
              <a:t>So, the motivation for this research was the lack of clarity surrounding systemic risk and its late addition to the AI Act’s framework. Many of those who were following the drafting of the Act closely, who had essentially become accustom to the risk-based hierarchy of AI systems, were a bit shocked by the introduction of an entirely new category.</a:t>
            </a:r>
          </a:p>
          <a:p>
            <a:endParaRPr lang="en-US" dirty="0"/>
          </a:p>
          <a:p>
            <a:r>
              <a:rPr lang="en-US" dirty="0"/>
              <a:t>The release of CHATGPT in 2022 was one of the primary drivers for the inclusion of systemic risk and regulatory mechanisms large language models, what the EU now calls “General Purpose AI Models”. This lead to a bifurcation of the risk schemes in the AI Act, one for models and one for systems. However, this division I argue causes further uncertainties.</a:t>
            </a:r>
          </a:p>
          <a:p>
            <a:endParaRPr lang="en-US" dirty="0"/>
          </a:p>
          <a:p>
            <a:r>
              <a:rPr lang="en-US" dirty="0"/>
              <a:t>To borrow the expression from Perrow</a:t>
            </a:r>
          </a:p>
        </p:txBody>
      </p:sp>
      <p:sp>
        <p:nvSpPr>
          <p:cNvPr id="4" name="Slide Number Placeholder 3"/>
          <p:cNvSpPr>
            <a:spLocks noGrp="1"/>
          </p:cNvSpPr>
          <p:nvPr>
            <p:ph type="sldNum" sz="quarter" idx="5"/>
          </p:nvPr>
        </p:nvSpPr>
        <p:spPr/>
        <p:txBody>
          <a:bodyPr/>
          <a:lstStyle/>
          <a:p>
            <a:fld id="{C30B86AD-8917-3F45-AECA-C447A1964659}" type="slidenum">
              <a:rPr lang="en-US" smtClean="0"/>
              <a:t>4</a:t>
            </a:fld>
            <a:endParaRPr lang="en-US" dirty="0"/>
          </a:p>
        </p:txBody>
      </p:sp>
    </p:spTree>
    <p:extLst>
      <p:ext uri="{BB962C8B-B14F-4D97-AF65-F5344CB8AC3E}">
        <p14:creationId xmlns:p14="http://schemas.microsoft.com/office/powerpoint/2010/main" val="3708884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AI Act is very different from for those who were used to the protection of fundamental rights through data protection. Unlike the GDPR, the AI Act has its heritage in the New Legislative Framework, which is a product liability framework often associated with </a:t>
            </a:r>
            <a:r>
              <a:rPr lang="en-US" dirty="0" err="1"/>
              <a:t>childrens</a:t>
            </a:r>
            <a:r>
              <a:rPr lang="en-US" dirty="0"/>
              <a:t> toys and elevators. </a:t>
            </a:r>
          </a:p>
        </p:txBody>
      </p:sp>
      <p:sp>
        <p:nvSpPr>
          <p:cNvPr id="4" name="Slide Number Placeholder 3"/>
          <p:cNvSpPr>
            <a:spLocks noGrp="1"/>
          </p:cNvSpPr>
          <p:nvPr>
            <p:ph type="sldNum" sz="quarter" idx="5"/>
          </p:nvPr>
        </p:nvSpPr>
        <p:spPr/>
        <p:txBody>
          <a:bodyPr/>
          <a:lstStyle/>
          <a:p>
            <a:fld id="{C30B86AD-8917-3F45-AECA-C447A1964659}" type="slidenum">
              <a:rPr lang="en-US" smtClean="0"/>
              <a:t>5</a:t>
            </a:fld>
            <a:endParaRPr lang="en-US" dirty="0"/>
          </a:p>
        </p:txBody>
      </p:sp>
    </p:spTree>
    <p:extLst>
      <p:ext uri="{BB962C8B-B14F-4D97-AF65-F5344CB8AC3E}">
        <p14:creationId xmlns:p14="http://schemas.microsoft.com/office/powerpoint/2010/main" val="3591219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of systemic risk is a catch all term that refers to the increased interconnected, asymmetrical and globalized nature of risks. Its precise scope remains unclear, although its most often associated with financial markets, especially the 2008 financial crisis. However, as far as I can tell, the notion of systemic risk has its roots in an OECD report from 2003.</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i="1" dirty="0"/>
              <a:t>Systemic risks entails endangering potentials with wide-ranging, cross-sectoral, or transnational impacts where conventional risk management and regional or even national risk regulation are insufficient</a:t>
            </a:r>
            <a:r>
              <a:rPr lang="en-US" dirty="0"/>
              <a:t>”  (Renn et al. 2022)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666666"/>
                </a:solidFill>
                <a:effectLst/>
                <a:latin typeface="Source Serif Pro" panose="020F0502020204030204" pitchFamily="34" charset="0"/>
              </a:rPr>
              <a:t> ‘systemic risk’ means a risk that is specific to the high-impact capabilities of general-purpose AI models, having a significant impact on the Union market due to their reach, or due to actual or reasonably foreseeable negative effects on public health, safety, public security, fundamental rights, or the society as a whole, that can be propagated at scale across the value chain;</a:t>
            </a:r>
            <a:endParaRPr lang="en-US" dirty="0"/>
          </a:p>
          <a:p>
            <a:endParaRPr lang="en-US" dirty="0"/>
          </a:p>
          <a:p>
            <a:pPr marL="0" marR="0" algn="just">
              <a:buNone/>
            </a:pPr>
            <a:r>
              <a:rPr lang="en-AU" sz="1800" i="1" kern="0" dirty="0">
                <a:effectLst/>
                <a:latin typeface="Times New Roman" panose="02020603050405020304" pitchFamily="18" charset="0"/>
                <a:ea typeface="Times New Roman" panose="02020603050405020304" pitchFamily="18" charset="0"/>
              </a:rPr>
              <a:t>complexity</a:t>
            </a:r>
            <a:r>
              <a:rPr lang="en-AU" sz="1800" kern="0" dirty="0">
                <a:effectLst/>
                <a:latin typeface="Times New Roman" panose="02020603050405020304" pitchFamily="18" charset="0"/>
                <a:ea typeface="Times New Roman" panose="02020603050405020304" pitchFamily="18" charset="0"/>
              </a:rPr>
              <a:t>, </a:t>
            </a:r>
            <a:r>
              <a:rPr lang="en-AU" sz="1800" i="1" kern="0" dirty="0">
                <a:effectLst/>
                <a:latin typeface="Times New Roman" panose="02020603050405020304" pitchFamily="18" charset="0"/>
                <a:ea typeface="Times New Roman" panose="02020603050405020304" pitchFamily="18" charset="0"/>
              </a:rPr>
              <a:t>uncertainty</a:t>
            </a:r>
            <a:r>
              <a:rPr lang="en-AU" sz="1800" kern="0" dirty="0">
                <a:effectLst/>
                <a:latin typeface="Times New Roman" panose="02020603050405020304" pitchFamily="18" charset="0"/>
                <a:ea typeface="Times New Roman" panose="02020603050405020304" pitchFamily="18" charset="0"/>
              </a:rPr>
              <a:t>, </a:t>
            </a:r>
            <a:r>
              <a:rPr lang="en-AU" sz="1800" i="1" kern="0" dirty="0">
                <a:effectLst/>
                <a:latin typeface="Times New Roman" panose="02020603050405020304" pitchFamily="18" charset="0"/>
                <a:ea typeface="Times New Roman" panose="02020603050405020304" pitchFamily="18" charset="0"/>
              </a:rPr>
              <a:t>ambiguity</a:t>
            </a:r>
            <a:r>
              <a:rPr lang="en-AU" sz="1800" kern="0" dirty="0">
                <a:effectLst/>
                <a:latin typeface="Times New Roman" panose="02020603050405020304" pitchFamily="18" charset="0"/>
                <a:ea typeface="Times New Roman" panose="02020603050405020304" pitchFamily="18" charset="0"/>
              </a:rPr>
              <a:t>, and </a:t>
            </a:r>
            <a:r>
              <a:rPr lang="en-AU" sz="1800" i="1" kern="0" dirty="0">
                <a:effectLst/>
                <a:latin typeface="Times New Roman" panose="02020603050405020304" pitchFamily="18" charset="0"/>
                <a:ea typeface="Times New Roman" panose="02020603050405020304" pitchFamily="18" charset="0"/>
              </a:rPr>
              <a:t>ripple effects beyond the source of risk</a:t>
            </a:r>
            <a:r>
              <a:rPr lang="en-AU" sz="1800" kern="0" dirty="0">
                <a:effectLst/>
                <a:latin typeface="Times New Roman" panose="02020603050405020304" pitchFamily="18" charset="0"/>
                <a:ea typeface="Times New Roman" panose="02020603050405020304" pitchFamily="18" charset="0"/>
              </a:rPr>
              <a:t>. Each component adds additional layers of difficult in regard to risk assessment. Complexity refers to the struggle to both identify and subsequently quantify due to the “multitude of potential elements and specific adverse effects.” In other words, the potential harm of a systemic risk is made up of competing causal components that to varying degrees lead to its categorisation as systemic. Complexity is increased due to the globalised nature of systemic risk, as well as the interconnectivity of their causal structures. Uncertainty refers to the indeterminacy of potential risks due to the variety of different components that make up the identification and measurement process. In a sense, uncertainty can be traced back to the competency and success of certain scientific methods to extract the necessary knowledge required to assess potential harms. Renn refers to this as systemic risks being “stochastic in their effect structure”, meaning that it is hard to predict with precision the occurrence of events and their consequence that relate to a particular risk. Ambiguity, unlike uncertainty, refers to the potential for interpretive differences between the results of scientific knowledge. Finally, ripple effects refer to the secondary and tertiary effects that occur through the unfolding of potential harms or impacts caused. Moreover, these secondary and tertiary effects can “jump across” various social domains or across various sectors. Therefore, the notion of systemic risk relates to the “totality of the threat – the probability that the entire system can collapse – that distinguishes systemic from other types of risk.”</a:t>
            </a:r>
            <a:endParaRPr lang="en-US" dirty="0"/>
          </a:p>
        </p:txBody>
      </p:sp>
      <p:sp>
        <p:nvSpPr>
          <p:cNvPr id="4" name="Slide Number Placeholder 3"/>
          <p:cNvSpPr>
            <a:spLocks noGrp="1"/>
          </p:cNvSpPr>
          <p:nvPr>
            <p:ph type="sldNum" sz="quarter" idx="5"/>
          </p:nvPr>
        </p:nvSpPr>
        <p:spPr/>
        <p:txBody>
          <a:bodyPr/>
          <a:lstStyle/>
          <a:p>
            <a:fld id="{C30B86AD-8917-3F45-AECA-C447A1964659}" type="slidenum">
              <a:rPr lang="en-US" smtClean="0"/>
              <a:t>6</a:t>
            </a:fld>
            <a:endParaRPr lang="en-US" dirty="0"/>
          </a:p>
        </p:txBody>
      </p:sp>
    </p:spTree>
    <p:extLst>
      <p:ext uri="{BB962C8B-B14F-4D97-AF65-F5344CB8AC3E}">
        <p14:creationId xmlns:p14="http://schemas.microsoft.com/office/powerpoint/2010/main" val="3359660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AI Act operationalises2primary mechanisms for determining systemic risk in a model, the threshold of “high impact capabilities”, computational thresholds.</a:t>
            </a:r>
          </a:p>
          <a:p>
            <a:pPr marL="171450" indent="-171450">
              <a:buFont typeface="Arial" panose="020B0604020202020204" pitchFamily="34" charset="0"/>
              <a:buChar char="•"/>
            </a:pPr>
            <a:r>
              <a:rPr lang="en-US" dirty="0"/>
              <a:t>‘Ex officio decisions as well as implementing acts and delegated acts accordingly provide the flexibility in order to change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AU" sz="18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HIC - number of parameters, quality or size of it training data, quantity of computation used, input and output modalities, level of autonomy and scalability, reach in the internal market calculated through registered business users and the number of registered end-users</a:t>
            </a:r>
            <a:r>
              <a:rPr lang="en-US" dirty="0">
                <a:effectLst/>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800" dirty="0">
                <a:effectLst/>
                <a:latin typeface="Aptos" panose="020B0004020202020204" pitchFamily="34" charset="0"/>
                <a:ea typeface="Aptos" panose="020B0004020202020204" pitchFamily="34" charset="0"/>
                <a:cs typeface="Times New Roman" panose="02020603050405020304" pitchFamily="18" charset="0"/>
              </a:rPr>
              <a:t>A general-purpose AI model is presumed to pose systemic risk where the cumulative computation used for training the model exceeds a floating-point per second score of 10</a:t>
            </a:r>
            <a:r>
              <a:rPr lang="en-AU" sz="1800" baseline="30000" dirty="0">
                <a:effectLst/>
                <a:latin typeface="Aptos" panose="020B0004020202020204" pitchFamily="34" charset="0"/>
                <a:ea typeface="Aptos" panose="020B0004020202020204" pitchFamily="34" charset="0"/>
                <a:cs typeface="Times New Roman" panose="02020603050405020304" pitchFamily="18" charset="0"/>
              </a:rPr>
              <a:t>^</a:t>
            </a:r>
            <a:r>
              <a:rPr lang="en-AU" sz="1800" dirty="0">
                <a:effectLst/>
                <a:latin typeface="Aptos" panose="020B0004020202020204" pitchFamily="34" charset="0"/>
                <a:ea typeface="Aptos" panose="020B0004020202020204" pitchFamily="34" charset="0"/>
                <a:cs typeface="Times New Roman" panose="02020603050405020304" pitchFamily="18" charset="0"/>
              </a:rPr>
              <a:t>25. </a:t>
            </a:r>
            <a:r>
              <a:rPr lang="en-AU" sz="18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This includes all computational instances used to enhance the model, including pre-training, synthetic data generation and fine-tuning</a:t>
            </a:r>
            <a:r>
              <a:rPr lang="en-US" dirty="0">
                <a:effectLst/>
              </a:rPr>
              <a:t> </a:t>
            </a:r>
            <a:r>
              <a:rPr lang="en-AU" sz="1800" dirty="0">
                <a:effectLst/>
                <a:latin typeface="Times New Roman" panose="02020603050405020304" pitchFamily="18" charset="0"/>
                <a:ea typeface="Times New Roman" panose="02020603050405020304" pitchFamily="18" charset="0"/>
              </a:rPr>
              <a:t>Alternatively, more than one </a:t>
            </a:r>
            <a:r>
              <a:rPr lang="en-AU" sz="1800" dirty="0" err="1">
                <a:effectLst/>
                <a:latin typeface="Times New Roman" panose="02020603050405020304" pitchFamily="18" charset="0"/>
                <a:ea typeface="Times New Roman" panose="02020603050405020304" pitchFamily="18" charset="0"/>
              </a:rPr>
              <a:t>YottaFLOP</a:t>
            </a:r>
            <a:r>
              <a:rPr lang="en-AU" sz="1800" dirty="0">
                <a:effectLst/>
                <a:latin typeface="Times New Roman" panose="02020603050405020304" pitchFamily="18"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30B86AD-8917-3F45-AECA-C447A1964659}" type="slidenum">
              <a:rPr lang="en-US" smtClean="0"/>
              <a:t>7</a:t>
            </a:fld>
            <a:endParaRPr lang="en-US" dirty="0"/>
          </a:p>
        </p:txBody>
      </p:sp>
    </p:spTree>
    <p:extLst>
      <p:ext uri="{BB962C8B-B14F-4D97-AF65-F5344CB8AC3E}">
        <p14:creationId xmlns:p14="http://schemas.microsoft.com/office/powerpoint/2010/main" val="137941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institutionalization of uncertainty, as I call it, can be understood in two parts first, scientific uncertainty and regulatory uncertainty. </a:t>
            </a:r>
          </a:p>
          <a:p>
            <a:endParaRPr lang="en-US" dirty="0"/>
          </a:p>
          <a:p>
            <a:r>
              <a:rPr lang="en-US" dirty="0"/>
              <a:t>Risk based regulation can be paradoxical, in so far as they operate on the premise that certain social complexities can be “rationalized, ordered, managed and controlled”. The rigidity of regulatory frameworks often are unable to react and adapt to unforeseen and unpredictable futures, According to Black, this inability to adapt becomes institutionalized within regulatory frameworks. At the same time, the opposite is also true, where lack of clarity and certain in regards to the regulatory framework (less detailed rules and procedures) creates more uncertainty.</a:t>
            </a:r>
          </a:p>
          <a:p>
            <a:endParaRPr lang="en-US" dirty="0"/>
          </a:p>
          <a:p>
            <a:r>
              <a:rPr lang="en-US" dirty="0"/>
              <a:t>Another issue is that risk-based regulation operates on the implicit assumption of cause and effect. However, in the case of systemic risk, the normal cause and effect schemes breakdown and it becomes incredibly difficult to determine what happened and how it happened.</a:t>
            </a:r>
          </a:p>
          <a:p>
            <a:endParaRPr lang="en-US" dirty="0"/>
          </a:p>
          <a:p>
            <a:r>
              <a:rPr lang="en-US" dirty="0"/>
              <a:t>2) Delegation of risk decisions to private entities, in particular model providers</a:t>
            </a:r>
          </a:p>
          <a:p>
            <a:endParaRPr lang="en-US" dirty="0"/>
          </a:p>
          <a:p>
            <a:r>
              <a:rPr lang="en-US" dirty="0"/>
              <a:t>The </a:t>
            </a:r>
          </a:p>
          <a:p>
            <a:endParaRPr lang="en-US" dirty="0"/>
          </a:p>
          <a:p>
            <a:r>
              <a:rPr lang="en-US" dirty="0"/>
              <a:t>3) </a:t>
            </a:r>
          </a:p>
          <a:p>
            <a:endParaRPr lang="en-US" dirty="0"/>
          </a:p>
          <a:p>
            <a:pPr marL="171450" indent="-171450">
              <a:buFont typeface="Arial" panose="020B0604020202020204" pitchFamily="34" charset="0"/>
              <a:buChar char="•"/>
            </a:pPr>
            <a:r>
              <a:rPr lang="en-US" dirty="0"/>
              <a:t>Finally, I argue that the distinction between model and system in this case exacerbates the uncertainty of systemic risk. This creates a regulatory blind spot, where systemic risk is defined specifically as a </a:t>
            </a:r>
            <a:r>
              <a:rPr lang="en-US" dirty="0" err="1"/>
              <a:t>proposentity</a:t>
            </a:r>
            <a:r>
              <a:rPr lang="en-US" dirty="0"/>
              <a:t> of models rather than systems.</a:t>
            </a:r>
          </a:p>
          <a:p>
            <a:pPr marL="171450" indent="-171450">
              <a:buFont typeface="Arial" panose="020B0604020202020204" pitchFamily="34" charset="0"/>
              <a:buChar char="•"/>
            </a:pPr>
            <a:r>
              <a:rPr lang="en-US" dirty="0"/>
              <a:t>Models can be understood as a mathematical model that generates an inference or predication based on input data. Meaning that a model on its own is inherently incomplete – it does not </a:t>
            </a:r>
          </a:p>
        </p:txBody>
      </p:sp>
      <p:sp>
        <p:nvSpPr>
          <p:cNvPr id="4" name="Slide Number Placeholder 3"/>
          <p:cNvSpPr>
            <a:spLocks noGrp="1"/>
          </p:cNvSpPr>
          <p:nvPr>
            <p:ph type="sldNum" sz="quarter" idx="5"/>
          </p:nvPr>
        </p:nvSpPr>
        <p:spPr/>
        <p:txBody>
          <a:bodyPr/>
          <a:lstStyle/>
          <a:p>
            <a:fld id="{C30B86AD-8917-3F45-AECA-C447A1964659}" type="slidenum">
              <a:rPr lang="en-US" smtClean="0"/>
              <a:t>8</a:t>
            </a:fld>
            <a:endParaRPr lang="en-US" dirty="0"/>
          </a:p>
        </p:txBody>
      </p:sp>
    </p:spTree>
    <p:extLst>
      <p:ext uri="{BB962C8B-B14F-4D97-AF65-F5344CB8AC3E}">
        <p14:creationId xmlns:p14="http://schemas.microsoft.com/office/powerpoint/2010/main" val="489300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C30B86AD-8917-3F45-AECA-C447A1964659}" type="slidenum">
              <a:rPr lang="en-US" smtClean="0"/>
              <a:t>9</a:t>
            </a:fld>
            <a:endParaRPr lang="en-US" dirty="0"/>
          </a:p>
        </p:txBody>
      </p:sp>
    </p:spTree>
    <p:extLst>
      <p:ext uri="{BB962C8B-B14F-4D97-AF65-F5344CB8AC3E}">
        <p14:creationId xmlns:p14="http://schemas.microsoft.com/office/powerpoint/2010/main" val="398087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0B86AD-8917-3F45-AECA-C447A1964659}" type="slidenum">
              <a:rPr lang="en-US" smtClean="0"/>
              <a:t>10</a:t>
            </a:fld>
            <a:endParaRPr lang="en-US" dirty="0"/>
          </a:p>
        </p:txBody>
      </p:sp>
    </p:spTree>
    <p:extLst>
      <p:ext uri="{BB962C8B-B14F-4D97-AF65-F5344CB8AC3E}">
        <p14:creationId xmlns:p14="http://schemas.microsoft.com/office/powerpoint/2010/main" val="2889240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7D8B78-137C-D348-93AB-19B381DF81B3}" type="datetime1">
              <a:rPr lang="en-US" smtClean="0"/>
              <a:t>4/15/25</a:t>
            </a:fld>
            <a:endParaRPr lang="en-US" dirty="0"/>
          </a:p>
        </p:txBody>
      </p:sp>
      <p:sp>
        <p:nvSpPr>
          <p:cNvPr id="5" name="Footer Placeholder 4"/>
          <p:cNvSpPr>
            <a:spLocks noGrp="1"/>
          </p:cNvSpPr>
          <p:nvPr>
            <p:ph type="ftr" sz="quarter" idx="11"/>
          </p:nvPr>
        </p:nvSpPr>
        <p:spPr/>
        <p:txBody>
          <a:bodyPr/>
          <a:lstStyle/>
          <a:p>
            <a:r>
              <a:rPr lang="en-US" dirty="0"/>
              <a:t>Samuel Carey, Stockholm University</a:t>
            </a:r>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6DF006-31FD-9145-81FA-609937817032}" type="datetime1">
              <a:rPr lang="en-US" smtClean="0"/>
              <a:t>4/15/25</a:t>
            </a:fld>
            <a:endParaRPr lang="en-US" dirty="0"/>
          </a:p>
        </p:txBody>
      </p:sp>
      <p:sp>
        <p:nvSpPr>
          <p:cNvPr id="5" name="Footer Placeholder 4"/>
          <p:cNvSpPr>
            <a:spLocks noGrp="1"/>
          </p:cNvSpPr>
          <p:nvPr>
            <p:ph type="ftr" sz="quarter" idx="11"/>
          </p:nvPr>
        </p:nvSpPr>
        <p:spPr/>
        <p:txBody>
          <a:bodyPr/>
          <a:lstStyle/>
          <a:p>
            <a:r>
              <a:rPr lang="en-US" dirty="0"/>
              <a:t>Samuel Carey, Stockholm University</a:t>
            </a:r>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EE310B-EA9E-2D47-9F66-EF89CB066D74}" type="datetime1">
              <a:rPr lang="en-US" smtClean="0"/>
              <a:t>4/15/25</a:t>
            </a:fld>
            <a:endParaRPr lang="en-US" dirty="0"/>
          </a:p>
        </p:txBody>
      </p:sp>
      <p:sp>
        <p:nvSpPr>
          <p:cNvPr id="5" name="Footer Placeholder 4"/>
          <p:cNvSpPr>
            <a:spLocks noGrp="1"/>
          </p:cNvSpPr>
          <p:nvPr>
            <p:ph type="ftr" sz="quarter" idx="11"/>
          </p:nvPr>
        </p:nvSpPr>
        <p:spPr/>
        <p:txBody>
          <a:bodyPr/>
          <a:lstStyle/>
          <a:p>
            <a:r>
              <a:rPr lang="en-US" dirty="0"/>
              <a:t>Samuel Carey, Stockholm University</a:t>
            </a:r>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2EE56A-31A6-7B4A-A52B-73957E1F027B}" type="datetime1">
              <a:rPr lang="en-US" smtClean="0"/>
              <a:t>4/15/25</a:t>
            </a:fld>
            <a:endParaRPr lang="en-US" dirty="0"/>
          </a:p>
        </p:txBody>
      </p:sp>
      <p:sp>
        <p:nvSpPr>
          <p:cNvPr id="6" name="Footer Placeholder 5"/>
          <p:cNvSpPr>
            <a:spLocks noGrp="1"/>
          </p:cNvSpPr>
          <p:nvPr>
            <p:ph type="ftr" sz="quarter" idx="11"/>
          </p:nvPr>
        </p:nvSpPr>
        <p:spPr/>
        <p:txBody>
          <a:bodyPr/>
          <a:lstStyle/>
          <a:p>
            <a:r>
              <a:rPr lang="en-US" dirty="0"/>
              <a:t>Samuel Carey, Stockholm University</a:t>
            </a:r>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66D2AA-FC44-CD49-A6FA-297D4A9421CA}" type="datetime1">
              <a:rPr lang="en-US" smtClean="0"/>
              <a:t>4/15/25</a:t>
            </a:fld>
            <a:endParaRPr lang="en-US" dirty="0"/>
          </a:p>
        </p:txBody>
      </p:sp>
      <p:sp>
        <p:nvSpPr>
          <p:cNvPr id="8" name="Footer Placeholder 7"/>
          <p:cNvSpPr>
            <a:spLocks noGrp="1"/>
          </p:cNvSpPr>
          <p:nvPr>
            <p:ph type="ftr" sz="quarter" idx="11"/>
          </p:nvPr>
        </p:nvSpPr>
        <p:spPr/>
        <p:txBody>
          <a:bodyPr/>
          <a:lstStyle/>
          <a:p>
            <a:r>
              <a:rPr lang="en-US" dirty="0"/>
              <a:t>Samuel Carey, Stockholm University</a:t>
            </a:r>
          </a:p>
        </p:txBody>
      </p:sp>
      <p:sp>
        <p:nvSpPr>
          <p:cNvPr id="9" name="Slide Number Placeholder 8"/>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870EA6-6AB2-5E49-8473-9D933B686474}" type="datetime1">
              <a:rPr lang="en-US" smtClean="0"/>
              <a:t>4/15/25</a:t>
            </a:fld>
            <a:endParaRPr lang="en-US" dirty="0"/>
          </a:p>
        </p:txBody>
      </p:sp>
      <p:sp>
        <p:nvSpPr>
          <p:cNvPr id="4" name="Footer Placeholder 3"/>
          <p:cNvSpPr>
            <a:spLocks noGrp="1"/>
          </p:cNvSpPr>
          <p:nvPr>
            <p:ph type="ftr" sz="quarter" idx="11"/>
          </p:nvPr>
        </p:nvSpPr>
        <p:spPr/>
        <p:txBody>
          <a:bodyPr/>
          <a:lstStyle/>
          <a:p>
            <a:r>
              <a:rPr lang="en-US" dirty="0"/>
              <a:t>Samuel Carey, Stockholm University</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4684F3-AE9F-A041-B8A3-2E6F246B7A89}" type="datetime1">
              <a:rPr lang="en-US" smtClean="0"/>
              <a:t>4/15/25</a:t>
            </a:fld>
            <a:endParaRPr lang="en-US" dirty="0"/>
          </a:p>
        </p:txBody>
      </p:sp>
      <p:sp>
        <p:nvSpPr>
          <p:cNvPr id="3" name="Footer Placeholder 2"/>
          <p:cNvSpPr>
            <a:spLocks noGrp="1"/>
          </p:cNvSpPr>
          <p:nvPr>
            <p:ph type="ftr" sz="quarter" idx="11"/>
          </p:nvPr>
        </p:nvSpPr>
        <p:spPr/>
        <p:txBody>
          <a:bodyPr/>
          <a:lstStyle/>
          <a:p>
            <a:r>
              <a:rPr lang="en-US" dirty="0"/>
              <a:t>Samuel Carey, Stockholm University</a:t>
            </a:r>
          </a:p>
        </p:txBody>
      </p:sp>
      <p:sp>
        <p:nvSpPr>
          <p:cNvPr id="4" name="Slide Number Placeholder 3"/>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A59D67-3F00-9642-AF7E-B2776AD6F3C3}" type="datetime1">
              <a:rPr lang="en-US" smtClean="0"/>
              <a:t>4/15/25</a:t>
            </a:fld>
            <a:endParaRPr lang="en-US" dirty="0"/>
          </a:p>
        </p:txBody>
      </p:sp>
      <p:sp>
        <p:nvSpPr>
          <p:cNvPr id="6" name="Footer Placeholder 5"/>
          <p:cNvSpPr>
            <a:spLocks noGrp="1"/>
          </p:cNvSpPr>
          <p:nvPr>
            <p:ph type="ftr" sz="quarter" idx="11"/>
          </p:nvPr>
        </p:nvSpPr>
        <p:spPr/>
        <p:txBody>
          <a:bodyPr/>
          <a:lstStyle/>
          <a:p>
            <a:r>
              <a:rPr lang="en-US" dirty="0"/>
              <a:t>Samuel Carey, Stockholm University</a:t>
            </a:r>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2246BC-79C2-7347-A444-E6845E36416B}" type="datetime1">
              <a:rPr lang="en-US" smtClean="0"/>
              <a:t>4/15/25</a:t>
            </a:fld>
            <a:endParaRPr lang="en-US" dirty="0"/>
          </a:p>
        </p:txBody>
      </p:sp>
      <p:sp>
        <p:nvSpPr>
          <p:cNvPr id="6" name="Footer Placeholder 5"/>
          <p:cNvSpPr>
            <a:spLocks noGrp="1"/>
          </p:cNvSpPr>
          <p:nvPr>
            <p:ph type="ftr" sz="quarter" idx="11"/>
          </p:nvPr>
        </p:nvSpPr>
        <p:spPr/>
        <p:txBody>
          <a:bodyPr/>
          <a:lstStyle/>
          <a:p>
            <a:r>
              <a:rPr lang="en-US" dirty="0"/>
              <a:t>Samuel Carey, Stockholm University</a:t>
            </a:r>
          </a:p>
        </p:txBody>
      </p:sp>
      <p:sp>
        <p:nvSpPr>
          <p:cNvPr id="7" name="Slide Number Placeholder 6"/>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1580A1-0C72-B640-979E-A53B5A76F814}" type="datetime1">
              <a:rPr lang="en-US" smtClean="0"/>
              <a:t>4/15/25</a:t>
            </a:fld>
            <a:endParaRPr lang="en-US" dirty="0"/>
          </a:p>
        </p:txBody>
      </p:sp>
      <p:sp>
        <p:nvSpPr>
          <p:cNvPr id="5" name="Footer Placeholder 4"/>
          <p:cNvSpPr>
            <a:spLocks noGrp="1"/>
          </p:cNvSpPr>
          <p:nvPr>
            <p:ph type="ftr" sz="quarter" idx="11"/>
          </p:nvPr>
        </p:nvSpPr>
        <p:spPr/>
        <p:txBody>
          <a:bodyPr/>
          <a:lstStyle/>
          <a:p>
            <a:r>
              <a:rPr lang="en-US" dirty="0"/>
              <a:t>Samuel Carey, Stockholm University</a:t>
            </a:r>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665BFC-F825-9D41-886F-F44F47D40F88}" type="datetime1">
              <a:rPr lang="en-US" smtClean="0"/>
              <a:t>4/15/25</a:t>
            </a:fld>
            <a:endParaRPr lang="en-US" dirty="0"/>
          </a:p>
        </p:txBody>
      </p:sp>
      <p:sp>
        <p:nvSpPr>
          <p:cNvPr id="5" name="Footer Placeholder 4"/>
          <p:cNvSpPr>
            <a:spLocks noGrp="1"/>
          </p:cNvSpPr>
          <p:nvPr>
            <p:ph type="ftr" sz="quarter" idx="11"/>
          </p:nvPr>
        </p:nvSpPr>
        <p:spPr/>
        <p:txBody>
          <a:bodyPr/>
          <a:lstStyle/>
          <a:p>
            <a:r>
              <a:rPr lang="en-US" dirty="0"/>
              <a:t>Samuel Carey, Stockholm University</a:t>
            </a:r>
          </a:p>
        </p:txBody>
      </p:sp>
      <p:sp>
        <p:nvSpPr>
          <p:cNvPr id="6" name="Slide Number Placeholder 5"/>
          <p:cNvSpPr>
            <a:spLocks noGrp="1"/>
          </p:cNvSpPr>
          <p:nvPr>
            <p:ph type="sldNum" sz="quarter" idx="12"/>
          </p:nvPr>
        </p:nvSpPr>
        <p:spPr/>
        <p:txBody>
          <a:bodyPr/>
          <a:lstStyle/>
          <a:p>
            <a:fld id="{48F63A3B-78C7-47BE-AE5E-E10140E04643}" type="slidenum">
              <a:rPr lang="en-US"/>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1A00D0-F0CD-664B-91AC-332C43761996}" type="datetime1">
              <a:rPr lang="en-US" smtClean="0"/>
              <a:t>4/15/25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Samuel Carey, Stockholm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3425-F772-C808-BE2C-1872590FE72E}"/>
              </a:ext>
            </a:extLst>
          </p:cNvPr>
          <p:cNvSpPr>
            <a:spLocks noGrp="1"/>
          </p:cNvSpPr>
          <p:nvPr>
            <p:ph type="ctrTitle"/>
          </p:nvPr>
        </p:nvSpPr>
        <p:spPr/>
        <p:txBody>
          <a:bodyPr>
            <a:normAutofit/>
          </a:bodyPr>
          <a:lstStyle/>
          <a:p>
            <a:r>
              <a:rPr lang="en-GB" sz="4800" b="1" noProof="0" dirty="0">
                <a:latin typeface="Open Sans" panose="020B0606030504020204" pitchFamily="34" charset="0"/>
                <a:ea typeface="Open Sans" panose="020B0606030504020204" pitchFamily="34" charset="0"/>
                <a:cs typeface="Open Sans" panose="020B0606030504020204" pitchFamily="34" charset="0"/>
              </a:rPr>
              <a:t>Regulating Uncertainty;</a:t>
            </a:r>
            <a:br>
              <a:rPr lang="en-GB" sz="4800" b="1" noProof="0" dirty="0">
                <a:latin typeface="Open Sans" panose="020B0606030504020204" pitchFamily="34" charset="0"/>
                <a:ea typeface="Open Sans" panose="020B0606030504020204" pitchFamily="34" charset="0"/>
                <a:cs typeface="Open Sans" panose="020B0606030504020204" pitchFamily="34" charset="0"/>
              </a:rPr>
            </a:br>
            <a:r>
              <a:rPr lang="en-GB" sz="4800" b="1" noProof="0" dirty="0">
                <a:latin typeface="Open Sans" panose="020B0606030504020204" pitchFamily="34" charset="0"/>
                <a:ea typeface="Open Sans" panose="020B0606030504020204" pitchFamily="34" charset="0"/>
                <a:cs typeface="Open Sans" panose="020B0606030504020204" pitchFamily="34" charset="0"/>
              </a:rPr>
              <a:t>Systemic Risk in the AI Act</a:t>
            </a:r>
          </a:p>
        </p:txBody>
      </p:sp>
      <p:sp>
        <p:nvSpPr>
          <p:cNvPr id="3" name="Subtitle 2">
            <a:extLst>
              <a:ext uri="{FF2B5EF4-FFF2-40B4-BE49-F238E27FC236}">
                <a16:creationId xmlns:a16="http://schemas.microsoft.com/office/drawing/2014/main" id="{4CEF209F-913F-DD61-EE39-51E3B315BBA4}"/>
              </a:ext>
            </a:extLst>
          </p:cNvPr>
          <p:cNvSpPr>
            <a:spLocks noGrp="1"/>
          </p:cNvSpPr>
          <p:nvPr>
            <p:ph type="subTitle" idx="1"/>
          </p:nvPr>
        </p:nvSpPr>
        <p:spPr/>
        <p:txBody>
          <a:bodyPr/>
          <a:lstStyle/>
          <a:p>
            <a:r>
              <a:rPr lang="en-GB" noProof="0" dirty="0"/>
              <a:t>SLSA Annual Conference</a:t>
            </a:r>
            <a:endParaRPr lang="en-GB" dirty="0"/>
          </a:p>
          <a:p>
            <a:r>
              <a:rPr lang="en-GB" noProof="0" dirty="0"/>
              <a:t>University of Liverpool</a:t>
            </a:r>
          </a:p>
        </p:txBody>
      </p:sp>
      <p:sp>
        <p:nvSpPr>
          <p:cNvPr id="9" name="TextBox 8">
            <a:extLst>
              <a:ext uri="{FF2B5EF4-FFF2-40B4-BE49-F238E27FC236}">
                <a16:creationId xmlns:a16="http://schemas.microsoft.com/office/drawing/2014/main" id="{F2E85312-D9ED-A1CC-699B-5E65187A0B24}"/>
              </a:ext>
            </a:extLst>
          </p:cNvPr>
          <p:cNvSpPr txBox="1"/>
          <p:nvPr/>
        </p:nvSpPr>
        <p:spPr>
          <a:xfrm>
            <a:off x="4951712" y="5726966"/>
            <a:ext cx="2288575" cy="646331"/>
          </a:xfrm>
          <a:prstGeom prst="rect">
            <a:avLst/>
          </a:prstGeom>
          <a:noFill/>
        </p:spPr>
        <p:txBody>
          <a:bodyPr wrap="none" rtlCol="0">
            <a:spAutoFit/>
          </a:bodyPr>
          <a:lstStyle/>
          <a:p>
            <a:pPr algn="ctr"/>
            <a:r>
              <a:rPr lang="en-GB" noProof="0" dirty="0"/>
              <a:t>Samuel Carey</a:t>
            </a:r>
          </a:p>
          <a:p>
            <a:r>
              <a:rPr lang="en-GB" noProof="0" dirty="0"/>
              <a:t>Stockholm University</a:t>
            </a:r>
          </a:p>
        </p:txBody>
      </p:sp>
      <p:pic>
        <p:nvPicPr>
          <p:cNvPr id="10" name="Picture 9" descr="A blue logo with a flame and leaves on a black background&#10;&#10;AI-generated content may be incorrect.">
            <a:extLst>
              <a:ext uri="{FF2B5EF4-FFF2-40B4-BE49-F238E27FC236}">
                <a16:creationId xmlns:a16="http://schemas.microsoft.com/office/drawing/2014/main" id="{BE8A9E66-3E0A-146D-E450-AE45CFB165E3}"/>
              </a:ext>
            </a:extLst>
          </p:cNvPr>
          <p:cNvPicPr>
            <a:picLocks noChangeAspect="1"/>
          </p:cNvPicPr>
          <p:nvPr/>
        </p:nvPicPr>
        <p:blipFill>
          <a:blip r:embed="rId3"/>
          <a:stretch>
            <a:fillRect/>
          </a:stretch>
        </p:blipFill>
        <p:spPr>
          <a:xfrm>
            <a:off x="9936608" y="5257800"/>
            <a:ext cx="1462783" cy="1360388"/>
          </a:xfrm>
          <a:prstGeom prst="rect">
            <a:avLst/>
          </a:prstGeom>
        </p:spPr>
      </p:pic>
      <p:pic>
        <p:nvPicPr>
          <p:cNvPr id="11" name="Picture 10" descr="A blue text on a white background&#10;&#10;AI-generated content may be incorrect.">
            <a:extLst>
              <a:ext uri="{FF2B5EF4-FFF2-40B4-BE49-F238E27FC236}">
                <a16:creationId xmlns:a16="http://schemas.microsoft.com/office/drawing/2014/main" id="{DB4D0379-2996-83F0-90C2-6BFCF744F142}"/>
              </a:ext>
            </a:extLst>
          </p:cNvPr>
          <p:cNvPicPr>
            <a:picLocks noChangeAspect="1"/>
          </p:cNvPicPr>
          <p:nvPr/>
        </p:nvPicPr>
        <p:blipFill>
          <a:blip r:embed="rId4"/>
          <a:stretch>
            <a:fillRect/>
          </a:stretch>
        </p:blipFill>
        <p:spPr>
          <a:xfrm>
            <a:off x="773201" y="5406217"/>
            <a:ext cx="1270000" cy="1270000"/>
          </a:xfrm>
          <a:prstGeom prst="rect">
            <a:avLst/>
          </a:prstGeom>
        </p:spPr>
      </p:pic>
      <p:sp>
        <p:nvSpPr>
          <p:cNvPr id="4" name="Footer Placeholder 3">
            <a:extLst>
              <a:ext uri="{FF2B5EF4-FFF2-40B4-BE49-F238E27FC236}">
                <a16:creationId xmlns:a16="http://schemas.microsoft.com/office/drawing/2014/main" id="{0EE8D77D-0E55-5F12-7333-8C702D761A50}"/>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3537640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DD8B-2F38-ED7C-B40E-2855AEC6EB0E}"/>
              </a:ext>
            </a:extLst>
          </p:cNvPr>
          <p:cNvSpPr>
            <a:spLocks noGrp="1"/>
          </p:cNvSpPr>
          <p:nvPr>
            <p:ph type="title"/>
          </p:nvPr>
        </p:nvSpPr>
        <p:spPr/>
        <p:txBody>
          <a:bodyPr/>
          <a:lstStyle/>
          <a:p>
            <a:r>
              <a:rPr lang="en-US" dirty="0"/>
              <a:t>A premise</a:t>
            </a:r>
          </a:p>
        </p:txBody>
      </p:sp>
      <p:sp>
        <p:nvSpPr>
          <p:cNvPr id="3" name="Content Placeholder 2">
            <a:extLst>
              <a:ext uri="{FF2B5EF4-FFF2-40B4-BE49-F238E27FC236}">
                <a16:creationId xmlns:a16="http://schemas.microsoft.com/office/drawing/2014/main" id="{06F8DB5F-00EE-3702-87CC-9C54F8469CF6}"/>
              </a:ext>
            </a:extLst>
          </p:cNvPr>
          <p:cNvSpPr>
            <a:spLocks noGrp="1"/>
          </p:cNvSpPr>
          <p:nvPr>
            <p:ph idx="1"/>
          </p:nvPr>
        </p:nvSpPr>
        <p:spPr/>
        <p:txBody>
          <a:bodyPr>
            <a:normAutofit/>
          </a:bodyPr>
          <a:lstStyle/>
          <a:p>
            <a:pPr marL="0" indent="0">
              <a:buNone/>
            </a:pPr>
            <a:r>
              <a:rPr lang="en-AU" dirty="0">
                <a:effectLst/>
                <a:ea typeface="Aptos" panose="020B0004020202020204" pitchFamily="34" charset="0"/>
                <a:cs typeface="Times New Roman" panose="02020603050405020304" pitchFamily="18" charset="0"/>
              </a:rPr>
              <a:t>“…we have not given nuclear power generation systems enough time to express themselves…we are only just beginning to uncover the potential dangers that make any prediction of risk very uncertain.”</a:t>
            </a:r>
          </a:p>
          <a:p>
            <a:pPr marL="0" indent="0" algn="r">
              <a:buNone/>
            </a:pPr>
            <a:r>
              <a:rPr lang="en-AU" dirty="0">
                <a:cs typeface="Times New Roman" panose="02020603050405020304" pitchFamily="18" charset="0"/>
              </a:rPr>
              <a:t>Charles Perrow, </a:t>
            </a:r>
            <a:r>
              <a:rPr lang="en-AU" i="1" dirty="0">
                <a:cs typeface="Times New Roman" panose="02020603050405020304" pitchFamily="18" charset="0"/>
              </a:rPr>
              <a:t>Normal Accidents</a:t>
            </a:r>
            <a:r>
              <a:rPr lang="en-AU" dirty="0">
                <a:cs typeface="Times New Roman" panose="02020603050405020304" pitchFamily="18" charset="0"/>
              </a:rPr>
              <a:t>, 2011</a:t>
            </a:r>
            <a:endParaRPr lang="en-US" dirty="0"/>
          </a:p>
        </p:txBody>
      </p:sp>
      <p:sp>
        <p:nvSpPr>
          <p:cNvPr id="4" name="Footer Placeholder 3">
            <a:extLst>
              <a:ext uri="{FF2B5EF4-FFF2-40B4-BE49-F238E27FC236}">
                <a16:creationId xmlns:a16="http://schemas.microsoft.com/office/drawing/2014/main" id="{5F08C78D-7C1A-5BD9-3DCA-02D19E62F41A}"/>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3420083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FEBD7-2A0D-C53C-8B59-15D9AE52E5E9}"/>
              </a:ext>
            </a:extLst>
          </p:cNvPr>
          <p:cNvSpPr>
            <a:spLocks noGrp="1"/>
          </p:cNvSpPr>
          <p:nvPr>
            <p:ph type="title"/>
          </p:nvPr>
        </p:nvSpPr>
        <p:spPr/>
        <p:txBody>
          <a:bodyPr/>
          <a:lstStyle/>
          <a:p>
            <a:r>
              <a:rPr lang="en-GB" noProof="0" dirty="0"/>
              <a:t>Outline</a:t>
            </a:r>
          </a:p>
        </p:txBody>
      </p:sp>
      <p:sp>
        <p:nvSpPr>
          <p:cNvPr id="3" name="Content Placeholder 2">
            <a:extLst>
              <a:ext uri="{FF2B5EF4-FFF2-40B4-BE49-F238E27FC236}">
                <a16:creationId xmlns:a16="http://schemas.microsoft.com/office/drawing/2014/main" id="{3D9E711C-9619-F1C4-CE64-5A49DA17CEFB}"/>
              </a:ext>
            </a:extLst>
          </p:cNvPr>
          <p:cNvSpPr>
            <a:spLocks noGrp="1"/>
          </p:cNvSpPr>
          <p:nvPr>
            <p:ph idx="1"/>
          </p:nvPr>
        </p:nvSpPr>
        <p:spPr/>
        <p:txBody>
          <a:bodyPr/>
          <a:lstStyle/>
          <a:p>
            <a:r>
              <a:rPr lang="en-GB" dirty="0"/>
              <a:t>Motivation</a:t>
            </a:r>
          </a:p>
          <a:p>
            <a:r>
              <a:rPr lang="en-GB" noProof="0" dirty="0"/>
              <a:t>Background</a:t>
            </a:r>
          </a:p>
          <a:p>
            <a:r>
              <a:rPr lang="en-GB" dirty="0"/>
              <a:t>Systemic Risk</a:t>
            </a:r>
          </a:p>
          <a:p>
            <a:r>
              <a:rPr lang="en-GB" noProof="0" dirty="0"/>
              <a:t>Legal Mechanisms</a:t>
            </a:r>
          </a:p>
          <a:p>
            <a:r>
              <a:rPr lang="en-GB" dirty="0"/>
              <a:t>Three core problems</a:t>
            </a:r>
            <a:endParaRPr lang="en-GB" noProof="0" dirty="0"/>
          </a:p>
          <a:p>
            <a:endParaRPr lang="en-GB" noProof="0" dirty="0"/>
          </a:p>
        </p:txBody>
      </p:sp>
      <p:sp>
        <p:nvSpPr>
          <p:cNvPr id="4" name="Footer Placeholder 3">
            <a:extLst>
              <a:ext uri="{FF2B5EF4-FFF2-40B4-BE49-F238E27FC236}">
                <a16:creationId xmlns:a16="http://schemas.microsoft.com/office/drawing/2014/main" id="{5CB3204C-A57D-B7B8-D77A-4AD18B3B9EC1}"/>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291182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2556-9C75-F174-EF56-5375579C9104}"/>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6AAEDCDC-BECD-8C31-BA63-3D4D9AAE9291}"/>
              </a:ext>
            </a:extLst>
          </p:cNvPr>
          <p:cNvSpPr>
            <a:spLocks noGrp="1"/>
          </p:cNvSpPr>
          <p:nvPr>
            <p:ph idx="1"/>
          </p:nvPr>
        </p:nvSpPr>
        <p:spPr>
          <a:xfrm>
            <a:off x="838199" y="1825625"/>
            <a:ext cx="9993923" cy="4351338"/>
          </a:xfrm>
        </p:spPr>
        <p:txBody>
          <a:bodyPr>
            <a:normAutofit/>
          </a:bodyPr>
          <a:lstStyle/>
          <a:p>
            <a:r>
              <a:rPr lang="en-US" dirty="0"/>
              <a:t>Critically analyze the concept of systemic risk within the AI Act; </a:t>
            </a:r>
          </a:p>
          <a:p>
            <a:pPr lvl="1"/>
            <a:r>
              <a:rPr lang="en-US" dirty="0"/>
              <a:t>Does systemic risk generate more uncertainty than it resolves?</a:t>
            </a:r>
          </a:p>
          <a:p>
            <a:r>
              <a:rPr lang="en-US" dirty="0"/>
              <a:t>Highlight some of the problems with flexible regulation as a means of avoiding the pacing problem.</a:t>
            </a:r>
          </a:p>
        </p:txBody>
      </p:sp>
      <p:sp>
        <p:nvSpPr>
          <p:cNvPr id="4" name="Footer Placeholder 3">
            <a:extLst>
              <a:ext uri="{FF2B5EF4-FFF2-40B4-BE49-F238E27FC236}">
                <a16:creationId xmlns:a16="http://schemas.microsoft.com/office/drawing/2014/main" id="{D45666A3-C9CE-7547-DE5F-62D7269D7923}"/>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4017282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FF2B-D24E-3BCE-1040-286A57714B2C}"/>
              </a:ext>
            </a:extLst>
          </p:cNvPr>
          <p:cNvSpPr>
            <a:spLocks noGrp="1"/>
          </p:cNvSpPr>
          <p:nvPr>
            <p:ph type="title"/>
          </p:nvPr>
        </p:nvSpPr>
        <p:spPr/>
        <p:txBody>
          <a:bodyPr/>
          <a:lstStyle/>
          <a:p>
            <a:r>
              <a:rPr lang="en-GB" noProof="0" dirty="0"/>
              <a:t>Background</a:t>
            </a:r>
          </a:p>
        </p:txBody>
      </p:sp>
      <p:sp>
        <p:nvSpPr>
          <p:cNvPr id="3" name="Content Placeholder 2">
            <a:extLst>
              <a:ext uri="{FF2B5EF4-FFF2-40B4-BE49-F238E27FC236}">
                <a16:creationId xmlns:a16="http://schemas.microsoft.com/office/drawing/2014/main" id="{0D19A299-2043-6514-0926-6C4B3E6B88DB}"/>
              </a:ext>
            </a:extLst>
          </p:cNvPr>
          <p:cNvSpPr>
            <a:spLocks noGrp="1"/>
          </p:cNvSpPr>
          <p:nvPr>
            <p:ph sz="half" idx="1"/>
          </p:nvPr>
        </p:nvSpPr>
        <p:spPr/>
        <p:txBody>
          <a:bodyPr/>
          <a:lstStyle/>
          <a:p>
            <a:r>
              <a:rPr lang="en-GB" dirty="0"/>
              <a:t>Horizontal regulation, coming into force iteratively, began legally binding on 1 August 2024</a:t>
            </a:r>
          </a:p>
          <a:p>
            <a:r>
              <a:rPr lang="en-GB" noProof="0" dirty="0"/>
              <a:t>Dual purpose: safeguard</a:t>
            </a:r>
            <a:r>
              <a:rPr lang="en-GB" dirty="0"/>
              <a:t> European values and fundamental rights, promote innovation.</a:t>
            </a:r>
          </a:p>
        </p:txBody>
      </p:sp>
      <p:pic>
        <p:nvPicPr>
          <p:cNvPr id="8" name="Content Placeholder 7" descr="Cartoon characters with different logos&#10;&#10;AI-generated content may be incorrect.">
            <a:extLst>
              <a:ext uri="{FF2B5EF4-FFF2-40B4-BE49-F238E27FC236}">
                <a16:creationId xmlns:a16="http://schemas.microsoft.com/office/drawing/2014/main" id="{E18092BC-25DF-C17D-FFD7-AEEEFC1A533E}"/>
              </a:ext>
            </a:extLst>
          </p:cNvPr>
          <p:cNvPicPr>
            <a:picLocks noGrp="1" noChangeAspect="1"/>
          </p:cNvPicPr>
          <p:nvPr>
            <p:ph sz="half" idx="2"/>
          </p:nvPr>
        </p:nvPicPr>
        <p:blipFill>
          <a:blip r:embed="rId3"/>
          <a:stretch>
            <a:fillRect/>
          </a:stretch>
        </p:blipFill>
        <p:spPr>
          <a:xfrm>
            <a:off x="6172200" y="2295441"/>
            <a:ext cx="5181600" cy="3411705"/>
          </a:xfrm>
        </p:spPr>
      </p:pic>
      <p:sp>
        <p:nvSpPr>
          <p:cNvPr id="5" name="Footer Placeholder 4">
            <a:extLst>
              <a:ext uri="{FF2B5EF4-FFF2-40B4-BE49-F238E27FC236}">
                <a16:creationId xmlns:a16="http://schemas.microsoft.com/office/drawing/2014/main" id="{5F29B1BF-1EE6-5771-FF3B-47A54A1F54D3}"/>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1714847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94D68-034A-DDD5-D253-A359411234B3}"/>
              </a:ext>
            </a:extLst>
          </p:cNvPr>
          <p:cNvSpPr>
            <a:spLocks noGrp="1"/>
          </p:cNvSpPr>
          <p:nvPr>
            <p:ph type="title"/>
          </p:nvPr>
        </p:nvSpPr>
        <p:spPr/>
        <p:txBody>
          <a:bodyPr/>
          <a:lstStyle/>
          <a:p>
            <a:r>
              <a:rPr lang="en-US" dirty="0"/>
              <a:t>Systemic Risk</a:t>
            </a:r>
          </a:p>
        </p:txBody>
      </p:sp>
      <p:sp>
        <p:nvSpPr>
          <p:cNvPr id="3" name="Content Placeholder 2">
            <a:extLst>
              <a:ext uri="{FF2B5EF4-FFF2-40B4-BE49-F238E27FC236}">
                <a16:creationId xmlns:a16="http://schemas.microsoft.com/office/drawing/2014/main" id="{DAAFF66F-B6FA-B025-6F96-635BD048A41D}"/>
              </a:ext>
            </a:extLst>
          </p:cNvPr>
          <p:cNvSpPr>
            <a:spLocks noGrp="1"/>
          </p:cNvSpPr>
          <p:nvPr>
            <p:ph idx="1"/>
          </p:nvPr>
        </p:nvSpPr>
        <p:spPr/>
        <p:txBody>
          <a:bodyPr>
            <a:normAutofit/>
          </a:bodyPr>
          <a:lstStyle/>
          <a:p>
            <a:r>
              <a:rPr lang="en-US" dirty="0"/>
              <a:t>A new concept (OECD 2003 report)</a:t>
            </a:r>
          </a:p>
          <a:p>
            <a:r>
              <a:rPr lang="en-AU" kern="0" dirty="0">
                <a:ea typeface="Times New Roman" panose="02020603050405020304" pitchFamily="18" charset="0"/>
              </a:rPr>
              <a:t>R</a:t>
            </a:r>
            <a:r>
              <a:rPr lang="en-AU" kern="0" dirty="0">
                <a:effectLst/>
                <a:ea typeface="Times New Roman" panose="02020603050405020304" pitchFamily="18" charset="0"/>
              </a:rPr>
              <a:t>isk of breakdown in system,</a:t>
            </a:r>
            <a:r>
              <a:rPr lang="en-AU" kern="0" dirty="0">
                <a:ea typeface="Times New Roman" panose="02020603050405020304" pitchFamily="18" charset="0"/>
              </a:rPr>
              <a:t> rather than just its parts, and is seen in the ”co-movements” between system parts [Kaufmann and Scott 2003]</a:t>
            </a:r>
          </a:p>
          <a:p>
            <a:r>
              <a:rPr lang="en-US" dirty="0"/>
              <a:t>Four components</a:t>
            </a:r>
          </a:p>
          <a:p>
            <a:pPr lvl="1"/>
            <a:r>
              <a:rPr lang="en-US" dirty="0"/>
              <a:t>Complexity</a:t>
            </a:r>
          </a:p>
          <a:p>
            <a:pPr lvl="1"/>
            <a:r>
              <a:rPr lang="en-US" dirty="0"/>
              <a:t>Uncertainty</a:t>
            </a:r>
          </a:p>
          <a:p>
            <a:pPr lvl="1"/>
            <a:r>
              <a:rPr lang="en-US" dirty="0"/>
              <a:t>Ambiguity</a:t>
            </a:r>
          </a:p>
          <a:p>
            <a:pPr lvl="1"/>
            <a:r>
              <a:rPr lang="en-US" dirty="0"/>
              <a:t>Ripple effects beyond the source of the risk</a:t>
            </a:r>
          </a:p>
        </p:txBody>
      </p:sp>
      <p:sp>
        <p:nvSpPr>
          <p:cNvPr id="4" name="Footer Placeholder 3">
            <a:extLst>
              <a:ext uri="{FF2B5EF4-FFF2-40B4-BE49-F238E27FC236}">
                <a16:creationId xmlns:a16="http://schemas.microsoft.com/office/drawing/2014/main" id="{BB935E6B-C0D3-3A51-9431-AAF7904A86E1}"/>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1342806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FE6C-1342-8089-9E7A-93A026C07C0B}"/>
              </a:ext>
            </a:extLst>
          </p:cNvPr>
          <p:cNvSpPr>
            <a:spLocks noGrp="1"/>
          </p:cNvSpPr>
          <p:nvPr>
            <p:ph type="title"/>
          </p:nvPr>
        </p:nvSpPr>
        <p:spPr/>
        <p:txBody>
          <a:bodyPr/>
          <a:lstStyle/>
          <a:p>
            <a:r>
              <a:rPr lang="en-US" dirty="0"/>
              <a:t>Legal mechanisms</a:t>
            </a:r>
          </a:p>
        </p:txBody>
      </p:sp>
      <p:sp>
        <p:nvSpPr>
          <p:cNvPr id="3" name="Content Placeholder 2">
            <a:extLst>
              <a:ext uri="{FF2B5EF4-FFF2-40B4-BE49-F238E27FC236}">
                <a16:creationId xmlns:a16="http://schemas.microsoft.com/office/drawing/2014/main" id="{CE325EFF-CEF9-74D9-F36E-D68B3EB28DF5}"/>
              </a:ext>
            </a:extLst>
          </p:cNvPr>
          <p:cNvSpPr>
            <a:spLocks noGrp="1"/>
          </p:cNvSpPr>
          <p:nvPr>
            <p:ph idx="1"/>
          </p:nvPr>
        </p:nvSpPr>
        <p:spPr/>
        <p:txBody>
          <a:bodyPr/>
          <a:lstStyle/>
          <a:p>
            <a:r>
              <a:rPr lang="en-US" dirty="0"/>
              <a:t>High-impact capabilities</a:t>
            </a:r>
          </a:p>
          <a:p>
            <a:r>
              <a:rPr lang="en-US" dirty="0"/>
              <a:t>Computational thresholds</a:t>
            </a:r>
          </a:p>
          <a:p>
            <a:pPr lvl="1"/>
            <a:r>
              <a:rPr lang="en-US" dirty="0"/>
              <a:t>Exceeding 10^25 FLOP</a:t>
            </a:r>
          </a:p>
          <a:p>
            <a:r>
              <a:rPr lang="en-US" dirty="0"/>
              <a:t>Ex officio decisions, implementing acts, delegated acts</a:t>
            </a:r>
          </a:p>
        </p:txBody>
      </p:sp>
      <p:sp>
        <p:nvSpPr>
          <p:cNvPr id="4" name="Footer Placeholder 3">
            <a:extLst>
              <a:ext uri="{FF2B5EF4-FFF2-40B4-BE49-F238E27FC236}">
                <a16:creationId xmlns:a16="http://schemas.microsoft.com/office/drawing/2014/main" id="{7AE32ACB-9EDE-46B0-D4FF-044CDA89D6CD}"/>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2354681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7EEF5-E714-D897-9A09-F7160E72BB1E}"/>
              </a:ext>
            </a:extLst>
          </p:cNvPr>
          <p:cNvSpPr>
            <a:spLocks noGrp="1"/>
          </p:cNvSpPr>
          <p:nvPr>
            <p:ph type="title"/>
          </p:nvPr>
        </p:nvSpPr>
        <p:spPr/>
        <p:txBody>
          <a:bodyPr/>
          <a:lstStyle/>
          <a:p>
            <a:r>
              <a:rPr lang="en-GB" noProof="0" dirty="0" err="1"/>
              <a:t>Thre</a:t>
            </a:r>
            <a:r>
              <a:rPr lang="en-GB" dirty="0"/>
              <a:t>e Core Critiques</a:t>
            </a:r>
            <a:endParaRPr lang="en-GB" noProof="0" dirty="0"/>
          </a:p>
        </p:txBody>
      </p:sp>
      <p:sp>
        <p:nvSpPr>
          <p:cNvPr id="3" name="Content Placeholder 2">
            <a:extLst>
              <a:ext uri="{FF2B5EF4-FFF2-40B4-BE49-F238E27FC236}">
                <a16:creationId xmlns:a16="http://schemas.microsoft.com/office/drawing/2014/main" id="{23DAD3A8-0D37-CCE1-3311-013EE2A751E6}"/>
              </a:ext>
            </a:extLst>
          </p:cNvPr>
          <p:cNvSpPr>
            <a:spLocks noGrp="1"/>
          </p:cNvSpPr>
          <p:nvPr>
            <p:ph idx="1"/>
          </p:nvPr>
        </p:nvSpPr>
        <p:spPr/>
        <p:txBody>
          <a:bodyPr/>
          <a:lstStyle/>
          <a:p>
            <a:pPr marL="514350" indent="-514350">
              <a:buFont typeface="+mj-lt"/>
              <a:buAutoNum type="arabicPeriod"/>
            </a:pPr>
            <a:r>
              <a:rPr lang="en-GB" noProof="0" dirty="0"/>
              <a:t>The Institutionalisation of uncertainty</a:t>
            </a:r>
          </a:p>
          <a:p>
            <a:pPr lvl="1"/>
            <a:r>
              <a:rPr lang="en-GB" noProof="0" dirty="0"/>
              <a:t>Law relies on science to define risk, but in the case of GPAI, there is a lack of consensus regarding the risks</a:t>
            </a:r>
          </a:p>
          <a:p>
            <a:pPr lvl="1"/>
            <a:r>
              <a:rPr lang="en-GB" dirty="0"/>
              <a:t>Regulatory framework solidifies an inherently unstable concept</a:t>
            </a:r>
            <a:endParaRPr lang="en-GB" noProof="0" dirty="0"/>
          </a:p>
          <a:p>
            <a:pPr marL="514350" indent="-514350">
              <a:buFont typeface="+mj-lt"/>
              <a:buAutoNum type="arabicPeriod"/>
            </a:pPr>
            <a:r>
              <a:rPr lang="en-GB" dirty="0"/>
              <a:t>The delegation of systemic risk to Model providers</a:t>
            </a:r>
          </a:p>
          <a:p>
            <a:pPr lvl="1"/>
            <a:r>
              <a:rPr lang="en-GB" dirty="0"/>
              <a:t>Risk of regulatory capture in the operationalisation of systemic risk</a:t>
            </a:r>
          </a:p>
          <a:p>
            <a:pPr marL="514350" indent="-514350">
              <a:buFont typeface="+mj-lt"/>
              <a:buAutoNum type="arabicPeriod"/>
            </a:pPr>
            <a:r>
              <a:rPr lang="en-GB" noProof="0" dirty="0"/>
              <a:t>The creation of uncertainty between model and system.</a:t>
            </a:r>
          </a:p>
          <a:p>
            <a:pPr lvl="1"/>
            <a:r>
              <a:rPr lang="en-GB" noProof="0" dirty="0"/>
              <a:t>The Act draws a line between GPAI and AI systems (for legal certainty)</a:t>
            </a:r>
          </a:p>
          <a:p>
            <a:pPr lvl="1"/>
            <a:r>
              <a:rPr lang="en-GB" noProof="0" dirty="0" err="1"/>
              <a:t>Syste</a:t>
            </a:r>
            <a:r>
              <a:rPr lang="en-GB" dirty="0" err="1"/>
              <a:t>ms</a:t>
            </a:r>
            <a:r>
              <a:rPr lang="en-GB" noProof="0" dirty="0"/>
              <a:t> instantiate the risks embedded in models – yet </a:t>
            </a:r>
            <a:r>
              <a:rPr lang="en-GB" dirty="0"/>
              <a:t>systemic risk obligations are not extended to systems</a:t>
            </a:r>
            <a:endParaRPr lang="en-GB" noProof="0" dirty="0"/>
          </a:p>
        </p:txBody>
      </p:sp>
      <p:sp>
        <p:nvSpPr>
          <p:cNvPr id="4" name="Footer Placeholder 3">
            <a:extLst>
              <a:ext uri="{FF2B5EF4-FFF2-40B4-BE49-F238E27FC236}">
                <a16:creationId xmlns:a16="http://schemas.microsoft.com/office/drawing/2014/main" id="{252BC5F1-E205-1EF4-EBD4-F46188316357}"/>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22172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71701-1A9F-6E32-7BE5-DEDD640D5599}"/>
              </a:ext>
            </a:extLst>
          </p:cNvPr>
          <p:cNvSpPr>
            <a:spLocks noGrp="1"/>
          </p:cNvSpPr>
          <p:nvPr>
            <p:ph type="title"/>
          </p:nvPr>
        </p:nvSpPr>
        <p:spPr/>
        <p:txBody>
          <a:bodyPr/>
          <a:lstStyle/>
          <a:p>
            <a:r>
              <a:rPr lang="en-GB" noProof="0" dirty="0"/>
              <a:t>Summary</a:t>
            </a:r>
          </a:p>
        </p:txBody>
      </p:sp>
      <p:sp>
        <p:nvSpPr>
          <p:cNvPr id="3" name="Content Placeholder 2">
            <a:extLst>
              <a:ext uri="{FF2B5EF4-FFF2-40B4-BE49-F238E27FC236}">
                <a16:creationId xmlns:a16="http://schemas.microsoft.com/office/drawing/2014/main" id="{67D30B77-19F9-82E0-2A0E-7F7165E0FD0C}"/>
              </a:ext>
            </a:extLst>
          </p:cNvPr>
          <p:cNvSpPr>
            <a:spLocks noGrp="1"/>
          </p:cNvSpPr>
          <p:nvPr>
            <p:ph idx="1"/>
          </p:nvPr>
        </p:nvSpPr>
        <p:spPr/>
        <p:txBody>
          <a:bodyPr/>
          <a:lstStyle/>
          <a:p>
            <a:r>
              <a:rPr lang="en-GB" dirty="0"/>
              <a:t>Issues with the use of technical standards such as compute as a way of determining systemic risk.</a:t>
            </a:r>
          </a:p>
          <a:p>
            <a:r>
              <a:rPr lang="en-GB" dirty="0"/>
              <a:t>Tension between innovation and fundamental rights</a:t>
            </a:r>
          </a:p>
          <a:p>
            <a:endParaRPr lang="en-GB" dirty="0"/>
          </a:p>
          <a:p>
            <a:pPr lvl="1"/>
            <a:endParaRPr lang="en-GB" noProof="0" dirty="0"/>
          </a:p>
        </p:txBody>
      </p:sp>
      <p:sp>
        <p:nvSpPr>
          <p:cNvPr id="4" name="Footer Placeholder 3">
            <a:extLst>
              <a:ext uri="{FF2B5EF4-FFF2-40B4-BE49-F238E27FC236}">
                <a16:creationId xmlns:a16="http://schemas.microsoft.com/office/drawing/2014/main" id="{155FE814-4B07-EB93-7669-B8E1058EDDB9}"/>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97772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02BF-5ACB-789F-523C-F7C0D3928593}"/>
              </a:ext>
            </a:extLst>
          </p:cNvPr>
          <p:cNvSpPr>
            <a:spLocks noGrp="1"/>
          </p:cNvSpPr>
          <p:nvPr>
            <p:ph type="title"/>
          </p:nvPr>
        </p:nvSpPr>
        <p:spPr/>
        <p:txBody>
          <a:bodyPr/>
          <a:lstStyle/>
          <a:p>
            <a:r>
              <a:rPr lang="en-GB" noProof="0" dirty="0"/>
              <a:t>Future research?</a:t>
            </a:r>
          </a:p>
        </p:txBody>
      </p:sp>
      <p:sp>
        <p:nvSpPr>
          <p:cNvPr id="3" name="Content Placeholder 2">
            <a:extLst>
              <a:ext uri="{FF2B5EF4-FFF2-40B4-BE49-F238E27FC236}">
                <a16:creationId xmlns:a16="http://schemas.microsoft.com/office/drawing/2014/main" id="{178E32DA-09E4-8C56-4831-1647F607E49C}"/>
              </a:ext>
            </a:extLst>
          </p:cNvPr>
          <p:cNvSpPr>
            <a:spLocks noGrp="1"/>
          </p:cNvSpPr>
          <p:nvPr>
            <p:ph idx="1"/>
          </p:nvPr>
        </p:nvSpPr>
        <p:spPr/>
        <p:txBody>
          <a:bodyPr/>
          <a:lstStyle/>
          <a:p>
            <a:r>
              <a:rPr lang="en-GB" dirty="0"/>
              <a:t>Evolution of systemic risk within the AI Act’s regulatory framework</a:t>
            </a:r>
          </a:p>
          <a:p>
            <a:pPr lvl="1"/>
            <a:r>
              <a:rPr lang="en-GB" noProof="0" dirty="0"/>
              <a:t>Analysing the shifts in systemic risk through the different drafts of the Code of Practice</a:t>
            </a:r>
          </a:p>
        </p:txBody>
      </p:sp>
      <p:sp>
        <p:nvSpPr>
          <p:cNvPr id="4" name="Footer Placeholder 3">
            <a:extLst>
              <a:ext uri="{FF2B5EF4-FFF2-40B4-BE49-F238E27FC236}">
                <a16:creationId xmlns:a16="http://schemas.microsoft.com/office/drawing/2014/main" id="{6E35ADCF-8F5E-96DC-D1E0-AD88AF06C10C}"/>
              </a:ext>
            </a:extLst>
          </p:cNvPr>
          <p:cNvSpPr>
            <a:spLocks noGrp="1"/>
          </p:cNvSpPr>
          <p:nvPr>
            <p:ph type="ftr" sz="quarter" idx="11"/>
          </p:nvPr>
        </p:nvSpPr>
        <p:spPr/>
        <p:txBody>
          <a:bodyPr/>
          <a:lstStyle/>
          <a:p>
            <a:r>
              <a:rPr lang="en-US" dirty="0"/>
              <a:t>Samuel Carey, Stockholm University</a:t>
            </a:r>
          </a:p>
        </p:txBody>
      </p:sp>
    </p:spTree>
    <p:extLst>
      <p:ext uri="{BB962C8B-B14F-4D97-AF65-F5344CB8AC3E}">
        <p14:creationId xmlns:p14="http://schemas.microsoft.com/office/powerpoint/2010/main" val="885507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EA72E3-91AC-3E2F-9B1F-C4303374C3FB}"/>
              </a:ext>
            </a:extLst>
          </p:cNvPr>
          <p:cNvSpPr>
            <a:spLocks noGrp="1"/>
          </p:cNvSpPr>
          <p:nvPr>
            <p:ph type="title"/>
          </p:nvPr>
        </p:nvSpPr>
        <p:spPr/>
        <p:txBody>
          <a:bodyPr/>
          <a:lstStyle/>
          <a:p>
            <a:r>
              <a:rPr lang="en-US" dirty="0"/>
              <a:t>Thank you!</a:t>
            </a:r>
          </a:p>
        </p:txBody>
      </p:sp>
      <p:sp>
        <p:nvSpPr>
          <p:cNvPr id="6" name="Text Placeholder 5">
            <a:extLst>
              <a:ext uri="{FF2B5EF4-FFF2-40B4-BE49-F238E27FC236}">
                <a16:creationId xmlns:a16="http://schemas.microsoft.com/office/drawing/2014/main" id="{F57BFD22-134C-31B0-7854-3389E706D702}"/>
              </a:ext>
            </a:extLst>
          </p:cNvPr>
          <p:cNvSpPr>
            <a:spLocks noGrp="1"/>
          </p:cNvSpPr>
          <p:nvPr>
            <p:ph type="body" idx="1"/>
          </p:nvPr>
        </p:nvSpPr>
        <p:spPr/>
        <p:txBody>
          <a:bodyPr/>
          <a:lstStyle/>
          <a:p>
            <a:r>
              <a:rPr lang="en-US" dirty="0"/>
              <a:t>Stay in touch: </a:t>
            </a:r>
            <a:r>
              <a:rPr lang="en-US" dirty="0" err="1"/>
              <a:t>Samuel.carey@juridicum.su.se</a:t>
            </a:r>
            <a:endParaRPr lang="en-US" dirty="0"/>
          </a:p>
        </p:txBody>
      </p:sp>
      <p:sp>
        <p:nvSpPr>
          <p:cNvPr id="4" name="Footer Placeholder 3">
            <a:extLst>
              <a:ext uri="{FF2B5EF4-FFF2-40B4-BE49-F238E27FC236}">
                <a16:creationId xmlns:a16="http://schemas.microsoft.com/office/drawing/2014/main" id="{0F4453A2-1B70-EB95-F035-C99177D9B5ED}"/>
              </a:ext>
            </a:extLst>
          </p:cNvPr>
          <p:cNvSpPr>
            <a:spLocks noGrp="1"/>
          </p:cNvSpPr>
          <p:nvPr>
            <p:ph type="ftr" sz="quarter" idx="11"/>
          </p:nvPr>
        </p:nvSpPr>
        <p:spPr/>
        <p:txBody>
          <a:bodyPr/>
          <a:lstStyle/>
          <a:p>
            <a:r>
              <a:rPr lang="en-US"/>
              <a:t>Samuel Carey, Stockholm University</a:t>
            </a:r>
            <a:endParaRPr lang="en-US" dirty="0"/>
          </a:p>
        </p:txBody>
      </p:sp>
    </p:spTree>
    <p:extLst>
      <p:ext uri="{BB962C8B-B14F-4D97-AF65-F5344CB8AC3E}">
        <p14:creationId xmlns:p14="http://schemas.microsoft.com/office/powerpoint/2010/main" val="23268001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27765</TotalTime>
  <Words>1580</Words>
  <Application>Microsoft Macintosh PowerPoint</Application>
  <PresentationFormat>Widescreen</PresentationFormat>
  <Paragraphs>107</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Open Sans</vt:lpstr>
      <vt:lpstr>Source Serif Pro</vt:lpstr>
      <vt:lpstr>Times New Roman</vt:lpstr>
      <vt:lpstr>Office Theme</vt:lpstr>
      <vt:lpstr>Regulating Uncertainty; Systemic Risk in the AI Act</vt:lpstr>
      <vt:lpstr>A premise</vt:lpstr>
      <vt:lpstr>Outline</vt:lpstr>
      <vt:lpstr>Motivation</vt:lpstr>
      <vt:lpstr>Background</vt:lpstr>
      <vt:lpstr>Systemic Risk</vt:lpstr>
      <vt:lpstr>Legal mechanisms</vt:lpstr>
      <vt:lpstr>Three Core Critiques</vt:lpstr>
      <vt:lpstr>Summary</vt:lpstr>
      <vt:lpstr>Future research?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David Carey</dc:creator>
  <cp:lastModifiedBy>Samuel David Carey</cp:lastModifiedBy>
  <cp:revision>7</cp:revision>
  <dcterms:created xsi:type="dcterms:W3CDTF">2025-03-24T08:25:48Z</dcterms:created>
  <dcterms:modified xsi:type="dcterms:W3CDTF">2025-04-19T08:37:59Z</dcterms:modified>
</cp:coreProperties>
</file>